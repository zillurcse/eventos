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7"/>
  </p:notesMasterIdLst>
  <p:sldIdLst>
    <p:sldId id="323" r:id="rId2"/>
    <p:sldId id="324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172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5B6172"/>
                </a:solidFill>
                <a:latin typeface="Calibri"/>
              </a:rPr>
              <a:t>Event management software market ($B)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4338C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414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2026</c:v>
                </c:pt>
                <c:pt idx="2">
                  <c:v>2028</c:v>
                </c:pt>
                <c:pt idx="3">
                  <c:v>2030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8.4</c:v>
                </c:pt>
                <c:pt idx="1">
                  <c:v>10.8</c:v>
                </c:pt>
                <c:pt idx="2">
                  <c:v>14.1</c:v>
                </c:pt>
                <c:pt idx="3">
                  <c:v>18.2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27-4608-AE7F-B48D1BBD92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34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Expouse — the operating system for live events. All-in-one platform spanning organizer operations, exhibitor CRM, and the attendee experience. This is our investor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structural problems: fragmented tool stacks for organizers, no ROI story for exhibitors, and a disjointed attendee journey. Each seam leaks data, money, and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Expouse replaces the fragmented stack with one lifecycle platform across four jobs — plan/operate, monetize exhibitors, engage attendees, run onsite &amp; measure — unified by a single data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products share one event graph: Organizer Studio, Exhibitor Portal, Attendee App, and Onsite &amp; Analytics. Everything an org configures flows through to exhibitors and attendees and back into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Organizer Studio is the control room: agenda and sessions, badges and access, ads and sponsorship, booth services with invoicing, content moderation, and communications. All native — no plugins or CSV exports.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exhibitor product is a genuine differentiator: native lead capture from every interaction, BANT qualification, AI-scored recommended leads, and team connection tooling. It gives sponsors a real ROI story, which drives rebooking and organizer retention.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attendee side is a branded microsite/app per event with live video rooms and lounge, full networking and meetings, chat, and a rich engagement layer of feed, surveys, contests, bookmarks and notes. High engagement means more data and stickier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defensible advantages: truly all-in-one on one codebase, AI applied where it pays (ExpoLens face matching, recommended leads), native LiveKit video, and a single role-secured data layer feeding shared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event management software market is large and compounding at roughly 11% CAGR toward $18B+ by 2030. Our beachhead is B2B expos and trade shows where the exhibitor ROI pain is sharpest. Numbers are illustrative industry estimates — swap in your sourced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compounding lines: recurring platform subscriptions, per-event and usage-based revenue, and high-margin exhibitor upsell with revenue share. Classic land-and-expand — land the organizer, expand across their exhibitors and event calendar.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 is the depth of what's already built: 40+ modules across three live portals on one codebase, from organizer studio to exhibitor CRM, live video, onsite scanning, and AI face matching. This is a working product, not slideware. Add pilot and revenue metrics as they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Against legacy suites, virtual-first platforms, and point tools, Expouse is the only option that is all-in-one on one codebase with a real exhibitor CRM, AI recommended leads, native live video, and onsite analytics — with modern UX and fast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today the platform is deep and live. Next is landing design-partner expos and hardening self-serve. Then deepen AI matchmaking and a services marketplace, and finally scale with enterprise integrations and international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slide is a placeholder — replace with real names, photos, and credibility markers. Investors back people; lead with your relevant event, SaaS, and technical track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ask: raising to convert a working platform into the category leader. Use of funds weighted to go-to-market and product/AI. Replace the $[X]M figure and contact details with your real numbers. Close on the vision — building the future of live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C6C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772400" y="3886200"/>
            <a:ext cx="4572000" cy="4572000"/>
          </a:xfrm>
          <a:prstGeom prst="ellipse">
            <a:avLst/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8686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058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8686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EXPOUSE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9808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Operating System</a:t>
            </a:r>
            <a:endParaRPr lang="en-US" sz="5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Live Events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777240" y="4343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platform to plan, run, monetize, and measure every event — for organizers, exhibitors, and attendees.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</a:t>
            </a:r>
            <a:r>
              <a:rPr lang="en-US" sz="13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61120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864698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9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7C6CF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EXPOUSE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4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" y="74980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Events run on a mess of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disconnected tools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520440" cy="3383280"/>
          </a:xfrm>
          <a:prstGeom prst="roundRect">
            <a:avLst>
              <a:gd name="adj" fmla="val 2973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2651760"/>
            <a:ext cx="777240" cy="777240"/>
          </a:xfrm>
          <a:prstGeom prst="ellipse">
            <a:avLst/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1069848" y="2852928"/>
            <a:ext cx="374904" cy="374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6118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Fragmented stacks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" y="42062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Organizers stitch together 8–12 tools — registration, badges, agenda, networking, video, analytics — none of which talk to each other.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453128" y="2331720"/>
            <a:ext cx="3520440" cy="3383280"/>
          </a:xfrm>
          <a:prstGeom prst="roundRect">
            <a:avLst>
              <a:gd name="adj" fmla="val 2973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73168" y="2651760"/>
            <a:ext cx="777240" cy="777240"/>
          </a:xfrm>
          <a:prstGeom prst="ellipse">
            <a:avLst/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4974336" y="2852928"/>
            <a:ext cx="374904" cy="374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73168" y="36118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Exhibitors can't prove ROI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773168" y="42062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Sponsors spend big but leave with a spreadsheet of scanned badges and no way to qualify or follow up on leads.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357616" y="2331720"/>
            <a:ext cx="3520440" cy="3383280"/>
          </a:xfrm>
          <a:prstGeom prst="roundRect">
            <a:avLst>
              <a:gd name="adj" fmla="val 2973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677656" y="2651760"/>
            <a:ext cx="777240" cy="777240"/>
          </a:xfrm>
          <a:prstGeom prst="ellipse">
            <a:avLst/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8878824" y="2852928"/>
            <a:ext cx="374904" cy="37490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77656" y="36118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Disjointed attendee journey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677656" y="42062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Attendees bounce between an app, a website, an email, and a booth — engagement and data leak at every seam.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result:  </a:t>
            </a:r>
            <a:r>
              <a:rPr lang="en-US" sz="1500" i="1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wasted budget, lost leads, and no single source of truth for what an event actually delivered.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01774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7C6CF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480560"/>
            <a:ext cx="4754880" cy="4754880"/>
          </a:xfrm>
          <a:prstGeom prst="ellipse">
            <a:avLst/>
          </a:prstGeom>
          <a:solidFill>
            <a:srgbClr val="7C6CF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EXPOUSE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86868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Expouse unifies the entire event lifecycle in one platform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658368" cy="658368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713232" y="286207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670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&amp; operate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71600" y="30083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Sessions, speakers, badges, services, ads, moderation — the organizer control room.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566160"/>
            <a:ext cx="658368" cy="658368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713232" y="373075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35387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Monetize exhibitors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371600" y="387705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Self-service booths + a full leads CRM so sponsors prove and grow ROI.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434840"/>
            <a:ext cx="658368" cy="658368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713232" y="459943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4407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 attendees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371600" y="474573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Branded microsite &amp; app: networking, meetings, chat, live video, surveys.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5303520"/>
            <a:ext cx="658368" cy="658368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713232" y="546811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5276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onsite &amp; measure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371600" y="561441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&amp; booth scanning, lead capture, and event-wide analytics in real time.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7955280" y="2514600"/>
            <a:ext cx="3703320" cy="3566160"/>
          </a:xfrm>
          <a:prstGeom prst="roundRect">
            <a:avLst>
              <a:gd name="adj" fmla="val 3077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7955280" y="27432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PLATFORM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955280" y="30175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40+</a:t>
            </a:r>
            <a:endParaRPr lang="en-US" sz="6000" dirty="0"/>
          </a:p>
        </p:txBody>
      </p:sp>
      <p:sp>
        <p:nvSpPr>
          <p:cNvPr id="27" name="Text 21"/>
          <p:cNvSpPr/>
          <p:nvPr/>
        </p:nvSpPr>
        <p:spPr>
          <a:xfrm>
            <a:off x="7955280" y="39776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modules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8412480" y="4526280"/>
            <a:ext cx="2788920" cy="0"/>
          </a:xfrm>
          <a:prstGeom prst="line">
            <a:avLst/>
          </a:prstGeom>
          <a:noFill/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7955280" y="47091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r>
              <a:rPr lang="en-US" sz="14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audiences, </a:t>
            </a:r>
            <a:r>
              <a:rPr lang="en-US" sz="2600" b="1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en-US" sz="14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data layer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87399852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7C6CF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EXPOUSE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4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" y="74980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products, one event graph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2697480" cy="3840480"/>
          </a:xfrm>
          <a:prstGeom prst="roundRect">
            <a:avLst>
              <a:gd name="adj" fmla="val 3729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2459736"/>
            <a:ext cx="713232" cy="713232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978408" y="2642616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5528" y="33558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Organizer Studio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5528" y="411480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&amp; speakers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Badges &amp; check-in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Ads &amp; services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moderation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456432" y="2148840"/>
            <a:ext cx="2697480" cy="3840480"/>
          </a:xfrm>
          <a:prstGeom prst="roundRect">
            <a:avLst>
              <a:gd name="adj" fmla="val 3729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749040" y="2459736"/>
            <a:ext cx="713232" cy="713232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3931920" y="264261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33558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Exhibitor Portal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3749040" y="411480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Self-service booths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 CRM + BANT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leads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&amp; orders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09944" y="2148840"/>
            <a:ext cx="2697480" cy="3840480"/>
          </a:xfrm>
          <a:prstGeom prst="roundRect">
            <a:avLst>
              <a:gd name="adj" fmla="val 3729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702552" y="2459736"/>
            <a:ext cx="713232" cy="713232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6885432" y="2642616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02552" y="33558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Attendee App</a:t>
            </a:r>
            <a:endParaRPr lang="en-US" sz="1750" dirty="0"/>
          </a:p>
        </p:txBody>
      </p:sp>
      <p:sp>
        <p:nvSpPr>
          <p:cNvPr id="21" name="Text 16"/>
          <p:cNvSpPr/>
          <p:nvPr/>
        </p:nvSpPr>
        <p:spPr>
          <a:xfrm>
            <a:off x="6702552" y="411480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Branded microsite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Networking &amp; meetings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rooms &amp; lounge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Surveys &amp; contests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363456" y="2148840"/>
            <a:ext cx="2697480" cy="3840480"/>
          </a:xfrm>
          <a:prstGeom prst="roundRect">
            <a:avLst>
              <a:gd name="adj" fmla="val 3729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656064" y="2459736"/>
            <a:ext cx="713232" cy="713232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9838944" y="2642616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56064" y="33558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Onsite &amp; Analytics</a:t>
            </a:r>
            <a:endParaRPr lang="en-US" sz="1750" dirty="0"/>
          </a:p>
        </p:txBody>
      </p:sp>
      <p:sp>
        <p:nvSpPr>
          <p:cNvPr id="26" name="Text 20"/>
          <p:cNvSpPr/>
          <p:nvPr/>
        </p:nvSpPr>
        <p:spPr>
          <a:xfrm>
            <a:off x="9656064" y="411480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scanning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Booth footfall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generation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Event-wide ROI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42264736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7C6CF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EXPOUSE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4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· ORGANIZER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" y="74980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organizer control room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whole show from one dashboard — no plugins, no exports, no glue code.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8952" y="248716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91933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914400" y="2642616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2395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 &amp; sessions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600200" y="27980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Multi-day tracks, speakers, Q&amp;A, live phases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89120" y="219456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45152" y="248716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91933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4800600" y="2642616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2395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Badges &amp; access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5486400" y="27980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badge designer, guest wizard, check-in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75320" y="219456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531352" y="248716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91933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8686800" y="2642616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72600" y="2395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Ads &amp; sponsorship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9372600" y="27980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Placements, targeting, and sponsor visibility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02920" y="370332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58952" y="399592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91933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914400" y="4151376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39044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Services &amp; invoicing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1600200" y="430682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Booth service catalogue, orders, PDF invoices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389120" y="370332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4645152" y="399592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91933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4800600" y="4151376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86400" y="39044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Moderation</a:t>
            </a:r>
            <a:endParaRPr lang="en-US" sz="1550" dirty="0"/>
          </a:p>
        </p:txBody>
      </p:sp>
      <p:sp>
        <p:nvSpPr>
          <p:cNvPr id="32" name="Text 25"/>
          <p:cNvSpPr/>
          <p:nvPr/>
        </p:nvSpPr>
        <p:spPr>
          <a:xfrm>
            <a:off x="5486400" y="430682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feed posts, contest entries, content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275320" y="370332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8531352" y="399592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91933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8686800" y="4151376"/>
            <a:ext cx="347472" cy="34747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372600" y="39044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Comms &amp; meetings</a:t>
            </a:r>
            <a:endParaRPr lang="en-US" sz="1550" dirty="0"/>
          </a:p>
        </p:txBody>
      </p:sp>
      <p:sp>
        <p:nvSpPr>
          <p:cNvPr id="37" name="Text 29"/>
          <p:cNvSpPr/>
          <p:nvPr/>
        </p:nvSpPr>
        <p:spPr>
          <a:xfrm>
            <a:off x="9372600" y="430682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builder, notifications, meeting caps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290849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7C6CF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480560"/>
            <a:ext cx="4754880" cy="4754880"/>
          </a:xfrm>
          <a:prstGeom prst="ellipse">
            <a:avLst/>
          </a:prstGeom>
          <a:solidFill>
            <a:srgbClr val="7C6CF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EXPOUSE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4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· EXHIBITOR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74980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real CRM for exhibitors —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a badge-scan dump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Expouse turns every booth into a revenue engine. Exhibitors manage their own presence and work leads like a modern sales team.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0664" y="3136392"/>
            <a:ext cx="548640" cy="548640"/>
          </a:xfrm>
          <a:prstGeom prst="ellipse">
            <a:avLst/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877824" y="327355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99032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 capture &amp; scanning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0664" y="36301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scan, meeting, message &amp; bookmark becomes a lead signal.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547872" y="28803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785616" y="3136392"/>
            <a:ext cx="548640" cy="548640"/>
          </a:xfrm>
          <a:prstGeom prst="ellipse">
            <a:avLst/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3922776" y="327355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43984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BANT qualification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785616" y="36301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board, analytics dashboard, and column-picking export.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02920" y="4462272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40664" y="4718304"/>
            <a:ext cx="548640" cy="548640"/>
          </a:xfrm>
          <a:prstGeom prst="ellipse">
            <a:avLst/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877824" y="4855464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99032" y="4645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 leads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740664" y="5212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Interest scoring surfaces the hottest prospects to pursue next.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3547872" y="4462272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3785616" y="4718304"/>
            <a:ext cx="548640" cy="548640"/>
          </a:xfrm>
          <a:prstGeom prst="ellipse">
            <a:avLst/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3922776" y="4855464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443984" y="4645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connections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3785616" y="5212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Per-rep roll-ups, reassignment, and shared-account handling.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903720" y="1783080"/>
            <a:ext cx="4800600" cy="4160520"/>
          </a:xfrm>
          <a:prstGeom prst="roundRect">
            <a:avLst>
              <a:gd name="adj" fmla="val 2637"/>
            </a:avLst>
          </a:prstGeom>
          <a:solidFill>
            <a:srgbClr val="191933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7269480" y="20574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269480" y="25146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6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70%</a:t>
            </a:r>
            <a:endParaRPr lang="en-US" sz="3400" dirty="0"/>
          </a:p>
        </p:txBody>
      </p:sp>
      <p:sp>
        <p:nvSpPr>
          <p:cNvPr id="32" name="Text 26"/>
          <p:cNvSpPr/>
          <p:nvPr/>
        </p:nvSpPr>
        <p:spPr>
          <a:xfrm>
            <a:off x="832104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B2B event value comes from exhibitor sponsorship — yet ROI is the #1 sponsor complaint.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7269480" y="35661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6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1st</a:t>
            </a:r>
            <a:endParaRPr lang="en-US" sz="3400" dirty="0"/>
          </a:p>
        </p:txBody>
      </p:sp>
      <p:sp>
        <p:nvSpPr>
          <p:cNvPr id="34" name="Text 28"/>
          <p:cNvSpPr/>
          <p:nvPr/>
        </p:nvSpPr>
        <p:spPr>
          <a:xfrm>
            <a:off x="8321040" y="3566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party lead data captured natively, ready to sync to the exhibitor's own CRM.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7269480" y="46177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6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↑</a:t>
            </a:r>
            <a:endParaRPr lang="en-US" sz="3400" dirty="0"/>
          </a:p>
        </p:txBody>
      </p:sp>
      <p:sp>
        <p:nvSpPr>
          <p:cNvPr id="36" name="Text 30"/>
          <p:cNvSpPr/>
          <p:nvPr/>
        </p:nvSpPr>
        <p:spPr>
          <a:xfrm>
            <a:off x="8321040" y="4617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Retention: sponsors who can prove ROI rebook — driving the organizer's repeat revenue.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4023177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7C6CF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EXPOUSE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4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· ATTENDEE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" y="74980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branded event experience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attendees actually use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5394960" cy="1691640"/>
          </a:xfrm>
          <a:prstGeom prst="roundRect">
            <a:avLst>
              <a:gd name="adj" fmla="val 5946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749808" cy="749808"/>
          </a:xfrm>
          <a:prstGeom prst="ellipse">
            <a:avLst/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1014984" y="279806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2560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Branded microsite &amp; app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83080" y="303580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event lives on its own subdomain or custom domain with email-first login.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09360" y="2286000"/>
            <a:ext cx="5394960" cy="1691640"/>
          </a:xfrm>
          <a:prstGeom prst="roundRect">
            <a:avLst>
              <a:gd name="adj" fmla="val 5946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629400" y="2606040"/>
            <a:ext cx="749808" cy="749808"/>
          </a:xfrm>
          <a:prstGeom prst="ellipse">
            <a:avLst/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6821424" y="279806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89520" y="2560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rooms &amp; lounge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589520" y="303580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LiveKit video breakout rooms and networking lounge tables.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02920" y="4206240"/>
            <a:ext cx="5394960" cy="1691640"/>
          </a:xfrm>
          <a:prstGeom prst="roundRect">
            <a:avLst>
              <a:gd name="adj" fmla="val 5946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22960" y="4526280"/>
            <a:ext cx="749808" cy="749808"/>
          </a:xfrm>
          <a:prstGeom prst="ellipse">
            <a:avLst/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1014984" y="471830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Networking &amp; meetings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83080" y="49560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directory, 1:1 meeting requests, and real-time 1:1 chat.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309360" y="4206240"/>
            <a:ext cx="5394960" cy="1691640"/>
          </a:xfrm>
          <a:prstGeom prst="roundRect">
            <a:avLst>
              <a:gd name="adj" fmla="val 5946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629400" y="4526280"/>
            <a:ext cx="749808" cy="749808"/>
          </a:xfrm>
          <a:prstGeom prst="ellipse">
            <a:avLst/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6821424" y="4718304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8952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 layer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589520" y="49560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feed, surveys, contests, bookmarks, notes, and notifications.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3737150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7C6CF5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480560"/>
            <a:ext cx="4754880" cy="4754880"/>
          </a:xfrm>
          <a:prstGeom prst="ellipse">
            <a:avLst/>
          </a:prstGeom>
          <a:solidFill>
            <a:srgbClr val="7C6CF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EXPOUSE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4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74980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Expouse wins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5394960" cy="1783080"/>
          </a:xfrm>
          <a:prstGeom prst="roundRect">
            <a:avLst>
              <a:gd name="adj" fmla="val 5641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2542032"/>
            <a:ext cx="777240" cy="777240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1024128" y="2743200"/>
            <a:ext cx="374904" cy="3749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24871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Truly all-in-one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828800" y="29718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40+ modules replace an entire stack. Competitors bolt on; we're one codebase and one data layer.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9360" y="2194560"/>
            <a:ext cx="5394960" cy="1783080"/>
          </a:xfrm>
          <a:prstGeom prst="roundRect">
            <a:avLst>
              <a:gd name="adj" fmla="val 5641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629400" y="2542032"/>
            <a:ext cx="777240" cy="777240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6830568" y="2743200"/>
            <a:ext cx="374904" cy="374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35240" y="24871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where it pays</a:t>
            </a:r>
            <a:endParaRPr lang="en-US" sz="1850" dirty="0"/>
          </a:p>
        </p:txBody>
      </p:sp>
      <p:sp>
        <p:nvSpPr>
          <p:cNvPr id="17" name="Text 13"/>
          <p:cNvSpPr/>
          <p:nvPr/>
        </p:nvSpPr>
        <p:spPr>
          <a:xfrm>
            <a:off x="7635240" y="29718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ExpoLens face matching for photos &amp; check-in, plus scored recommended leads for exhibitors.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02920" y="4251960"/>
            <a:ext cx="5394960" cy="1783080"/>
          </a:xfrm>
          <a:prstGeom prst="roundRect">
            <a:avLst>
              <a:gd name="adj" fmla="val 5641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22960" y="4599432"/>
            <a:ext cx="777240" cy="777240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1024128" y="4800600"/>
            <a:ext cx="374904" cy="3749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45445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Native live video</a:t>
            </a:r>
            <a:endParaRPr lang="en-US" sz="1850" dirty="0"/>
          </a:p>
        </p:txBody>
      </p:sp>
      <p:sp>
        <p:nvSpPr>
          <p:cNvPr id="22" name="Text 17"/>
          <p:cNvSpPr/>
          <p:nvPr/>
        </p:nvSpPr>
        <p:spPr>
          <a:xfrm>
            <a:off x="1828800" y="50292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LiveKit rooms &amp; lounge built in — no Zoom links, no third-party embeds, no extra invoice.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309360" y="4251960"/>
            <a:ext cx="5394960" cy="1783080"/>
          </a:xfrm>
          <a:prstGeom prst="roundRect">
            <a:avLst>
              <a:gd name="adj" fmla="val 5641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629400" y="4599432"/>
            <a:ext cx="777240" cy="777240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6830568" y="4800600"/>
            <a:ext cx="374904" cy="37490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35240" y="45445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data layer</a:t>
            </a:r>
            <a:endParaRPr lang="en-US" sz="1850" dirty="0"/>
          </a:p>
        </p:txBody>
      </p:sp>
      <p:sp>
        <p:nvSpPr>
          <p:cNvPr id="27" name="Text 21"/>
          <p:cNvSpPr/>
          <p:nvPr/>
        </p:nvSpPr>
        <p:spPr>
          <a:xfrm>
            <a:off x="7635240" y="50292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scan, message, and session feeds shared analytics with row-level security by role.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7174255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7C6CF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EXPOUSE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4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" y="74980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large, fast-growing market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8952" y="2560320"/>
            <a:ext cx="438912" cy="438912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23408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230428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$18B+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371600" y="27614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event management software by 2030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493008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8952" y="3858768"/>
            <a:ext cx="438912" cy="438912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36393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360273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$6B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371600" y="40599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Mid-market &amp; enterprise organizers, all-in-one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791456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58952" y="5157216"/>
            <a:ext cx="438912" cy="438912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71600" y="4937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490118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$120M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371600" y="53583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Beachhead: expo &amp; B2B trade shows</a:t>
            </a:r>
            <a:endParaRPr lang="en-US" sz="11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5212080" y="2148840"/>
          <a:ext cx="640080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industry estimates (~11% CAGR); replace with your sourced figures.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7967809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7C6CF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EXPOUSE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4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" y="74980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compounding revenue lines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3566160" cy="3063240"/>
          </a:xfrm>
          <a:prstGeom prst="roundRect">
            <a:avLst>
              <a:gd name="adj" fmla="val 3284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2395728"/>
            <a:ext cx="731520" cy="731520"/>
          </a:xfrm>
          <a:prstGeom prst="ellipse">
            <a:avLst/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978408" y="257860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5528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subscription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95528" y="367588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SaaS by organizer tier — seats, events, and module access.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5528" y="463600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91933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95528" y="4636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89120" y="2103120"/>
            <a:ext cx="3566160" cy="3063240"/>
          </a:xfrm>
          <a:prstGeom prst="roundRect">
            <a:avLst>
              <a:gd name="adj" fmla="val 3284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81728" y="2395728"/>
            <a:ext cx="731520" cy="731520"/>
          </a:xfrm>
          <a:prstGeom prst="ellipse">
            <a:avLst/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4864608" y="2578608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81728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Per-event &amp; usage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681728" y="367588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packs, attendee volume, live-video minutes, and add-ons.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681728" y="463600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91933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681728" y="4636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Scales with usage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275320" y="2103120"/>
            <a:ext cx="3566160" cy="3063240"/>
          </a:xfrm>
          <a:prstGeom prst="roundRect">
            <a:avLst>
              <a:gd name="adj" fmla="val 3284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567928" y="2395728"/>
            <a:ext cx="731520" cy="731520"/>
          </a:xfrm>
          <a:prstGeom prst="ellipse">
            <a:avLst/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8750808" y="2578608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567928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Exhibitor upsell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567928" y="367588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booths, the leads CRM, and paid service orders — revenue share.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567928" y="463600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91933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8567928" y="4636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margin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50292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 </a:t>
            </a:r>
            <a:r>
              <a:rPr lang="en-US" sz="1600" i="1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the organizer, </a:t>
            </a:r>
            <a:r>
              <a:rPr lang="en-US" sz="1600" b="1" i="1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</a:t>
            </a:r>
            <a:r>
              <a:rPr lang="en-US" sz="1600" i="1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every exhibitor and event they run.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574529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7C6CF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480560"/>
            <a:ext cx="4754880" cy="4754880"/>
          </a:xfrm>
          <a:prstGeom prst="ellipse">
            <a:avLst/>
          </a:prstGeom>
          <a:solidFill>
            <a:srgbClr val="7C6CF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EXPOUSE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4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74980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and working — not a concept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2697480" cy="1600200"/>
          </a:xfrm>
          <a:prstGeom prst="roundRect">
            <a:avLst>
              <a:gd name="adj" fmla="val 6286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7C6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40+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 shipped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47288" y="2103120"/>
            <a:ext cx="2697480" cy="1600200"/>
          </a:xfrm>
          <a:prstGeom prst="roundRect">
            <a:avLst>
              <a:gd name="adj" fmla="val 6286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7C6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3447288" y="3154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audiences served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91656" y="2103120"/>
            <a:ext cx="2697480" cy="1600200"/>
          </a:xfrm>
          <a:prstGeom prst="roundRect">
            <a:avLst>
              <a:gd name="adj" fmla="val 6286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91656" y="22860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7C6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391656" y="3154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portals live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36024" y="2103120"/>
            <a:ext cx="2697480" cy="1600200"/>
          </a:xfrm>
          <a:prstGeom prst="roundRect">
            <a:avLst>
              <a:gd name="adj" fmla="val 6286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36024" y="22860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7C6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9336024" y="3154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codebase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977640"/>
            <a:ext cx="11201400" cy="2057400"/>
          </a:xfrm>
          <a:prstGeom prst="roundRect">
            <a:avLst>
              <a:gd name="adj" fmla="val 4889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SHIPPED CAPABILITIES</a:t>
            </a:r>
            <a:endParaRPr lang="en-US" sz="11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822960" y="4553712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88720" y="4526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Organizer studio: agenda, badges, ads, services</a:t>
            </a:r>
            <a:endParaRPr lang="en-US" sz="13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822960" y="5029200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88720" y="5001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Exhibitor portal + full leads CRM &amp; analytics</a:t>
            </a:r>
            <a:endParaRPr lang="en-US" sz="13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822960" y="5504688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88720" y="54772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Attendee microsite, app shell &amp; networking</a:t>
            </a:r>
            <a:endParaRPr lang="en-US" sz="13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6172200" y="4553712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537960" y="4526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LiveKit rooms, lounge &amp; 1:1 chat</a:t>
            </a:r>
            <a:endParaRPr lang="en-US" sz="13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6172200" y="5029200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537960" y="5001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Onsite gate/booth scanning &amp; lead gen</a:t>
            </a:r>
            <a:endParaRPr lang="en-US" sz="13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6172200" y="5504688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37960" y="54772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ExpoLens face matching + role-based RLS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02920" y="6144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live customer/pilot &amp; revenue metrics here as they land.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3460082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7C6CF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EXPOUSE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4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" y="74980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compare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3172968" cy="548640"/>
          </a:xfrm>
          <a:prstGeom prst="roundRect">
            <a:avLst>
              <a:gd name="adj" fmla="val 10000"/>
            </a:avLst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172968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2057400"/>
            <a:ext cx="2029968" cy="548640"/>
          </a:xfrm>
          <a:prstGeom prst="roundRect">
            <a:avLst>
              <a:gd name="adj" fmla="val 10000"/>
            </a:avLst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49040" y="205740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Expouse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0" y="2057400"/>
            <a:ext cx="2029968" cy="548640"/>
          </a:xfrm>
          <a:prstGeom prst="roundRect">
            <a:avLst>
              <a:gd name="adj" fmla="val 10000"/>
            </a:avLst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52160" y="205740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suites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2057400"/>
            <a:ext cx="2029968" cy="548640"/>
          </a:xfrm>
          <a:prstGeom prst="roundRect">
            <a:avLst>
              <a:gd name="adj" fmla="val 10000"/>
            </a:avLst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55280" y="205740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Virtual-first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0" y="2057400"/>
            <a:ext cx="1618488" cy="548640"/>
          </a:xfrm>
          <a:prstGeom prst="roundRect">
            <a:avLst>
              <a:gd name="adj" fmla="val 10000"/>
            </a:avLst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0" y="205740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tools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2715768"/>
            <a:ext cx="3172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" y="2715768"/>
            <a:ext cx="2990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All-in-one, one codebase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749040" y="2715768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4636008" y="2820924"/>
            <a:ext cx="274320" cy="2743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852160" y="2715768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803136" y="2875788"/>
            <a:ext cx="164592" cy="164592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955280" y="2715768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906256" y="2875788"/>
            <a:ext cx="164592" cy="164592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058400" y="2715768"/>
            <a:ext cx="161848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10739628" y="2820924"/>
            <a:ext cx="274320" cy="27432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02920" y="3291840"/>
            <a:ext cx="3172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12648" y="3291840"/>
            <a:ext cx="2990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Exhibitor leads CRM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3749040" y="3291840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4636008" y="3396996"/>
            <a:ext cx="274320" cy="274320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5852160" y="3291840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6803136" y="3451860"/>
            <a:ext cx="164592" cy="164592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7955280" y="3291840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8842248" y="3396996"/>
            <a:ext cx="274320" cy="27432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10058400" y="3291840"/>
            <a:ext cx="161848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10803636" y="3451860"/>
            <a:ext cx="164592" cy="164592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502920" y="3867912"/>
            <a:ext cx="3172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612648" y="3867912"/>
            <a:ext cx="2990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leads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3749040" y="3867912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4636008" y="3973068"/>
            <a:ext cx="274320" cy="274320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5852160" y="3867912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4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6739128" y="3973068"/>
            <a:ext cx="274320" cy="274320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7955280" y="3867912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4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8842248" y="3973068"/>
            <a:ext cx="274320" cy="27432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10058400" y="3867912"/>
            <a:ext cx="161848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4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10739628" y="3973068"/>
            <a:ext cx="274320" cy="274320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502920" y="4443984"/>
            <a:ext cx="3172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38"/>
          <p:cNvSpPr/>
          <p:nvPr/>
        </p:nvSpPr>
        <p:spPr>
          <a:xfrm>
            <a:off x="612648" y="4443984"/>
            <a:ext cx="2990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live video</a:t>
            </a:r>
            <a:endParaRPr lang="en-US" sz="1250" dirty="0"/>
          </a:p>
        </p:txBody>
      </p:sp>
      <p:sp>
        <p:nvSpPr>
          <p:cNvPr id="49" name="Shape 39"/>
          <p:cNvSpPr/>
          <p:nvPr/>
        </p:nvSpPr>
        <p:spPr>
          <a:xfrm>
            <a:off x="3749040" y="4443984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4636008" y="4549140"/>
            <a:ext cx="274320" cy="274320"/>
          </a:xfrm>
          <a:prstGeom prst="rect">
            <a:avLst/>
          </a:prstGeom>
        </p:spPr>
      </p:pic>
      <p:sp>
        <p:nvSpPr>
          <p:cNvPr id="51" name="Shape 40"/>
          <p:cNvSpPr/>
          <p:nvPr/>
        </p:nvSpPr>
        <p:spPr>
          <a:xfrm>
            <a:off x="5852160" y="4443984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4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6739128" y="4549140"/>
            <a:ext cx="274320" cy="274320"/>
          </a:xfrm>
          <a:prstGeom prst="rect">
            <a:avLst/>
          </a:prstGeom>
        </p:spPr>
      </p:pic>
      <p:sp>
        <p:nvSpPr>
          <p:cNvPr id="53" name="Shape 41"/>
          <p:cNvSpPr/>
          <p:nvPr/>
        </p:nvSpPr>
        <p:spPr>
          <a:xfrm>
            <a:off x="7955280" y="4443984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8842248" y="4549140"/>
            <a:ext cx="274320" cy="274320"/>
          </a:xfrm>
          <a:prstGeom prst="rect">
            <a:avLst/>
          </a:prstGeom>
        </p:spPr>
      </p:pic>
      <p:sp>
        <p:nvSpPr>
          <p:cNvPr id="55" name="Shape 42"/>
          <p:cNvSpPr/>
          <p:nvPr/>
        </p:nvSpPr>
        <p:spPr>
          <a:xfrm>
            <a:off x="10058400" y="4443984"/>
            <a:ext cx="161848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3"/>
          <p:cNvSpPr/>
          <p:nvPr/>
        </p:nvSpPr>
        <p:spPr>
          <a:xfrm>
            <a:off x="10803636" y="4604004"/>
            <a:ext cx="164592" cy="164592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44"/>
          <p:cNvSpPr/>
          <p:nvPr/>
        </p:nvSpPr>
        <p:spPr>
          <a:xfrm>
            <a:off x="502920" y="5020056"/>
            <a:ext cx="3172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45"/>
          <p:cNvSpPr/>
          <p:nvPr/>
        </p:nvSpPr>
        <p:spPr>
          <a:xfrm>
            <a:off x="612648" y="5020056"/>
            <a:ext cx="2990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Onsite scanning + analytics</a:t>
            </a:r>
            <a:endParaRPr lang="en-US" sz="1250" dirty="0"/>
          </a:p>
        </p:txBody>
      </p:sp>
      <p:sp>
        <p:nvSpPr>
          <p:cNvPr id="59" name="Shape 46"/>
          <p:cNvSpPr/>
          <p:nvPr/>
        </p:nvSpPr>
        <p:spPr>
          <a:xfrm>
            <a:off x="3749040" y="5020056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4636008" y="5125212"/>
            <a:ext cx="274320" cy="274320"/>
          </a:xfrm>
          <a:prstGeom prst="rect">
            <a:avLst/>
          </a:prstGeom>
        </p:spPr>
      </p:pic>
      <p:sp>
        <p:nvSpPr>
          <p:cNvPr id="61" name="Shape 47"/>
          <p:cNvSpPr/>
          <p:nvPr/>
        </p:nvSpPr>
        <p:spPr>
          <a:xfrm>
            <a:off x="5852160" y="5020056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2" name="Image 12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6739128" y="5125212"/>
            <a:ext cx="274320" cy="274320"/>
          </a:xfrm>
          <a:prstGeom prst="rect">
            <a:avLst/>
          </a:prstGeom>
        </p:spPr>
      </p:pic>
      <p:sp>
        <p:nvSpPr>
          <p:cNvPr id="63" name="Shape 48"/>
          <p:cNvSpPr/>
          <p:nvPr/>
        </p:nvSpPr>
        <p:spPr>
          <a:xfrm>
            <a:off x="7955280" y="5020056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4" name="Image 13" descr="preencoded.png"/>
          <p:cNvPicPr>
            <a:picLocks noChangeAspect="1"/>
          </p:cNvPicPr>
          <p:nvPr/>
        </p:nvPicPr>
        <p:blipFill>
          <a:blip r:embed="rId4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8842248" y="5125212"/>
            <a:ext cx="274320" cy="274320"/>
          </a:xfrm>
          <a:prstGeom prst="rect">
            <a:avLst/>
          </a:prstGeom>
        </p:spPr>
      </p:pic>
      <p:sp>
        <p:nvSpPr>
          <p:cNvPr id="65" name="Shape 49"/>
          <p:cNvSpPr/>
          <p:nvPr/>
        </p:nvSpPr>
        <p:spPr>
          <a:xfrm>
            <a:off x="10058400" y="5020056"/>
            <a:ext cx="161848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50"/>
          <p:cNvSpPr/>
          <p:nvPr/>
        </p:nvSpPr>
        <p:spPr>
          <a:xfrm>
            <a:off x="10803636" y="5180076"/>
            <a:ext cx="164592" cy="164592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51"/>
          <p:cNvSpPr/>
          <p:nvPr/>
        </p:nvSpPr>
        <p:spPr>
          <a:xfrm>
            <a:off x="502920" y="5596128"/>
            <a:ext cx="3172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52"/>
          <p:cNvSpPr/>
          <p:nvPr/>
        </p:nvSpPr>
        <p:spPr>
          <a:xfrm>
            <a:off x="612648" y="5596128"/>
            <a:ext cx="2990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setup / modern UX</a:t>
            </a:r>
            <a:endParaRPr lang="en-US" sz="1250" dirty="0"/>
          </a:p>
        </p:txBody>
      </p:sp>
      <p:sp>
        <p:nvSpPr>
          <p:cNvPr id="69" name="Shape 53"/>
          <p:cNvSpPr/>
          <p:nvPr/>
        </p:nvSpPr>
        <p:spPr>
          <a:xfrm>
            <a:off x="3749040" y="5596128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919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0" name="Image 14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4636008" y="5701284"/>
            <a:ext cx="274320" cy="274320"/>
          </a:xfrm>
          <a:prstGeom prst="rect">
            <a:avLst/>
          </a:prstGeom>
        </p:spPr>
      </p:pic>
      <p:sp>
        <p:nvSpPr>
          <p:cNvPr id="71" name="Shape 54"/>
          <p:cNvSpPr/>
          <p:nvPr/>
        </p:nvSpPr>
        <p:spPr>
          <a:xfrm>
            <a:off x="5852160" y="5596128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2" name="Image 15" descr="preencoded.png"/>
          <p:cNvPicPr>
            <a:picLocks noChangeAspect="1"/>
          </p:cNvPicPr>
          <p:nvPr/>
        </p:nvPicPr>
        <p:blipFill>
          <a:blip r:embed="rId4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6739128" y="5701284"/>
            <a:ext cx="274320" cy="274320"/>
          </a:xfrm>
          <a:prstGeom prst="rect">
            <a:avLst/>
          </a:prstGeom>
        </p:spPr>
      </p:pic>
      <p:sp>
        <p:nvSpPr>
          <p:cNvPr id="73" name="Shape 55"/>
          <p:cNvSpPr/>
          <p:nvPr/>
        </p:nvSpPr>
        <p:spPr>
          <a:xfrm>
            <a:off x="7955280" y="5596128"/>
            <a:ext cx="202996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56"/>
          <p:cNvSpPr/>
          <p:nvPr/>
        </p:nvSpPr>
        <p:spPr>
          <a:xfrm>
            <a:off x="8906256" y="5756148"/>
            <a:ext cx="164592" cy="164592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57"/>
          <p:cNvSpPr/>
          <p:nvPr/>
        </p:nvSpPr>
        <p:spPr>
          <a:xfrm>
            <a:off x="10058400" y="5596128"/>
            <a:ext cx="1618488" cy="484632"/>
          </a:xfrm>
          <a:prstGeom prst="roundRect">
            <a:avLst>
              <a:gd name="adj" fmla="val 9434"/>
            </a:avLst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6" name="Image 16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10739628" y="5701284"/>
            <a:ext cx="274320" cy="274320"/>
          </a:xfrm>
          <a:prstGeom prst="rect">
            <a:avLst/>
          </a:prstGeom>
        </p:spPr>
      </p:pic>
      <p:pic>
        <p:nvPicPr>
          <p:cNvPr id="77" name="Image 17" descr="preencoded.png"/>
          <p:cNvPicPr>
            <a:picLocks noChangeAspect="1"/>
          </p:cNvPicPr>
          <p:nvPr/>
        </p:nvPicPr>
        <p:blipFill>
          <a:blip r:embed="rId3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502920" y="6172200"/>
            <a:ext cx="201168" cy="201168"/>
          </a:xfrm>
          <a:prstGeom prst="rect">
            <a:avLst/>
          </a:prstGeom>
        </p:spPr>
      </p:pic>
      <p:sp>
        <p:nvSpPr>
          <p:cNvPr id="78" name="Text 58"/>
          <p:cNvSpPr/>
          <p:nvPr/>
        </p:nvSpPr>
        <p:spPr>
          <a:xfrm>
            <a:off x="758952" y="6144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</a:t>
            </a:r>
            <a:endParaRPr lang="en-US" sz="1100" dirty="0"/>
          </a:p>
        </p:txBody>
      </p:sp>
      <p:sp>
        <p:nvSpPr>
          <p:cNvPr id="79" name="Shape 59"/>
          <p:cNvSpPr/>
          <p:nvPr/>
        </p:nvSpPr>
        <p:spPr>
          <a:xfrm>
            <a:off x="1554480" y="6199632"/>
            <a:ext cx="146304" cy="146304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60"/>
          <p:cNvSpPr/>
          <p:nvPr/>
        </p:nvSpPr>
        <p:spPr>
          <a:xfrm>
            <a:off x="1783080" y="6144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</a:t>
            </a:r>
            <a:endParaRPr lang="en-US" sz="1100" dirty="0"/>
          </a:p>
        </p:txBody>
      </p:sp>
      <p:pic>
        <p:nvPicPr>
          <p:cNvPr id="81" name="Image 18" descr="preencoded.png"/>
          <p:cNvPicPr>
            <a:picLocks noChangeAspect="1"/>
          </p:cNvPicPr>
          <p:nvPr/>
        </p:nvPicPr>
        <p:blipFill>
          <a:blip r:embed="rId4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2788920" y="6172200"/>
            <a:ext cx="201168" cy="201168"/>
          </a:xfrm>
          <a:prstGeom prst="rect">
            <a:avLst/>
          </a:prstGeom>
        </p:spPr>
      </p:pic>
      <p:sp>
        <p:nvSpPr>
          <p:cNvPr id="82" name="Text 61"/>
          <p:cNvSpPr/>
          <p:nvPr/>
        </p:nvSpPr>
        <p:spPr>
          <a:xfrm>
            <a:off x="3044952" y="6144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71858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4" dur="5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3" dur="5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6" dur="5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9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5" dur="50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8" dur="50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50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0" dur="50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3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9" dur="500"/>
                                  <p:tgtEl>
                                    <p:spTgt spid="5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2" dur="500"/>
                                  <p:tgtEl>
                                    <p:spTgt spid="5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5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500"/>
                                  <p:tgtEl>
                                    <p:spTgt spid="5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00"/>
                                  <p:tgtEl>
                                    <p:spTgt spid="5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4" dur="500"/>
                                  <p:tgtEl>
                                    <p:spTgt spid="5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7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500"/>
                                  <p:tgtEl>
                                    <p:spTgt spid="6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3" dur="500"/>
                                  <p:tgtEl>
                                    <p:spTgt spid="6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6" dur="500"/>
                                  <p:tgtEl>
                                    <p:spTgt spid="6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9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2" dur="500"/>
                                  <p:tgtEl>
                                    <p:spTgt spid="6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5" dur="500"/>
                                  <p:tgtEl>
                                    <p:spTgt spid="6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8" dur="500"/>
                                  <p:tgtEl>
                                    <p:spTgt spid="6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2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2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4" dur="500"/>
                                  <p:tgtEl>
                                    <p:spTgt spid="6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7" dur="500"/>
                                  <p:tgtEl>
                                    <p:spTgt spid="6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2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0" dur="500"/>
                                  <p:tgtEl>
                                    <p:spTgt spid="7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2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3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2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6" dur="500"/>
                                  <p:tgtEl>
                                    <p:spTgt spid="7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2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9" dur="500"/>
                                  <p:tgtEl>
                                    <p:spTgt spid="7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2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2" dur="500"/>
                                  <p:tgtEl>
                                    <p:spTgt spid="7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2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5" dur="5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2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8" dur="500"/>
                                  <p:tgtEl>
                                    <p:spTgt spid="7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2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500"/>
                                  <p:tgtEl>
                                    <p:spTgt spid="7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2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4" dur="500"/>
                                  <p:tgtEl>
                                    <p:spTgt spid="7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2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7" dur="5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2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0" dur="500"/>
                                  <p:tgtEl>
                                    <p:spTgt spid="8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2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3" dur="500"/>
                                  <p:tgtEl>
                                    <p:spTgt spid="8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2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6" dur="500"/>
                                  <p:tgtEl>
                                    <p:spTgt spid="8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7C6CF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EXPOUSE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4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" y="74980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we're headed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3611880"/>
            <a:ext cx="10332720" cy="0"/>
          </a:xfrm>
          <a:prstGeom prst="line">
            <a:avLst/>
          </a:prstGeom>
          <a:noFill/>
          <a:ln w="254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42516" y="3465576"/>
            <a:ext cx="292608" cy="292608"/>
          </a:xfrm>
          <a:prstGeom prst="ellipse">
            <a:avLst/>
          </a:prstGeom>
          <a:solidFill>
            <a:srgbClr val="7C6CF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depth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5786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40+ modules live across organizer, exhibitor &amp; attendee portals.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988820" y="3200400"/>
            <a:ext cx="0" cy="411480"/>
          </a:xfrm>
          <a:prstGeom prst="line">
            <a:avLst/>
          </a:prstGeom>
          <a:noFill/>
          <a:ln w="19050">
            <a:solidFill>
              <a:srgbClr val="7C6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58284" y="3465576"/>
            <a:ext cx="292608" cy="292608"/>
          </a:xfrm>
          <a:prstGeom prst="ellipse">
            <a:avLst/>
          </a:prstGeom>
          <a:solidFill>
            <a:srgbClr val="7C6CF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01568" y="40690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30168" y="4251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30168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partners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30168" y="49103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 first paid expos; harden onboarding, billing &amp; self-serve.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4588" y="3611880"/>
            <a:ext cx="0" cy="457200"/>
          </a:xfrm>
          <a:prstGeom prst="line">
            <a:avLst/>
          </a:prstGeom>
          <a:noFill/>
          <a:ln w="19050">
            <a:solidFill>
              <a:srgbClr val="7C6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74052" y="3465576"/>
            <a:ext cx="292608" cy="292608"/>
          </a:xfrm>
          <a:prstGeom prst="ellipse">
            <a:avLst/>
          </a:prstGeom>
          <a:solidFill>
            <a:srgbClr val="7C6CF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17336" y="17373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45936" y="1920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6–12 MO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45936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Marketplace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45936" y="25786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Deepen recommended leads, matchmaking, and a services marketplace.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20356" y="3200400"/>
            <a:ext cx="0" cy="411480"/>
          </a:xfrm>
          <a:prstGeom prst="line">
            <a:avLst/>
          </a:prstGeom>
          <a:noFill/>
          <a:ln w="19050">
            <a:solidFill>
              <a:srgbClr val="7C6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989820" y="3465576"/>
            <a:ext cx="292608" cy="292608"/>
          </a:xfrm>
          <a:prstGeom prst="ellipse">
            <a:avLst/>
          </a:prstGeom>
          <a:solidFill>
            <a:srgbClr val="7C6CF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833104" y="40690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061704" y="4251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12–24 MO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61704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 &amp; integrate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61704" y="49103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CRM/marketing integrations, enterprise SSO, and international expansion.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136124" y="3611880"/>
            <a:ext cx="0" cy="457200"/>
          </a:xfrm>
          <a:prstGeom prst="line">
            <a:avLst/>
          </a:prstGeom>
          <a:noFill/>
          <a:ln w="19050">
            <a:solidFill>
              <a:srgbClr val="7C6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230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7C6CF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EXPOUSE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4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" y="74980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by operators who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 events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88720" y="2743200"/>
            <a:ext cx="1280160" cy="1280160"/>
          </a:xfrm>
          <a:prstGeom prst="ellipse">
            <a:avLst/>
          </a:prstGeom>
          <a:solidFill>
            <a:srgbClr val="191933"/>
          </a:solidFill>
          <a:ln w="19050">
            <a:solidFill>
              <a:srgbClr val="7C6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92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85800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 &amp; CEO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85800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&amp; vision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name &amp; one-line bio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10712" y="23774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096512" y="2743200"/>
            <a:ext cx="1280160" cy="1280160"/>
          </a:xfrm>
          <a:prstGeom prst="ellipse">
            <a:avLst/>
          </a:prstGeom>
          <a:solidFill>
            <a:srgbClr val="191933"/>
          </a:solidFill>
          <a:ln w="19050">
            <a:solidFill>
              <a:srgbClr val="7C6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96512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92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593592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Co-founder &amp; CTO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593592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&amp; platform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93592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name &amp; one-line bio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18504" y="23774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04304" y="2743200"/>
            <a:ext cx="1280160" cy="1280160"/>
          </a:xfrm>
          <a:prstGeom prst="ellipse">
            <a:avLst/>
          </a:prstGeom>
          <a:solidFill>
            <a:srgbClr val="191933"/>
          </a:solidFill>
          <a:ln w="19050">
            <a:solidFill>
              <a:srgbClr val="7C6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04304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92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501384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 of Growth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501384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&amp; partnerships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01384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name &amp; one-line bio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226296" y="23774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912096" y="2743200"/>
            <a:ext cx="1280160" cy="1280160"/>
          </a:xfrm>
          <a:prstGeom prst="ellipse">
            <a:avLst/>
          </a:prstGeom>
          <a:solidFill>
            <a:srgbClr val="191933"/>
          </a:solidFill>
          <a:ln w="19050">
            <a:solidFill>
              <a:srgbClr val="7C6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912096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92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9409176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 of Design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409176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 &amp; brand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409176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name &amp; one-line bio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B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placeholders with real names, photos, and credibility markers (prior exits, domain wins, notable logos).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11258142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2743200"/>
            <a:ext cx="7772400" cy="7772400"/>
          </a:xfrm>
          <a:prstGeom prst="ellipse">
            <a:avLst/>
          </a:prstGeom>
          <a:solidFill>
            <a:srgbClr val="7C6CF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480560"/>
            <a:ext cx="4754880" cy="4754880"/>
          </a:xfrm>
          <a:prstGeom prst="ellipse">
            <a:avLst/>
          </a:prstGeom>
          <a:solidFill>
            <a:srgbClr val="7C6CF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3474720"/>
            <a:ext cx="5486400" cy="5486400"/>
          </a:xfrm>
          <a:prstGeom prst="ellipse">
            <a:avLst/>
          </a:prstGeom>
          <a:solidFill>
            <a:srgbClr val="7C6CF5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7C6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143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Raising to turn a working platform</a:t>
            </a:r>
            <a:endParaRPr lang="en-US" sz="3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into the category leader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77240" y="2880360"/>
            <a:ext cx="3429000" cy="2148840"/>
          </a:xfrm>
          <a:prstGeom prst="roundRect">
            <a:avLst>
              <a:gd name="adj" fmla="val 4681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1560" y="3154680"/>
            <a:ext cx="640080" cy="640080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1216152" y="331927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0" y="30815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7C6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051560" y="3931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Go-to-market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51560" y="43434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Sales, partnerships &amp; design-partner expos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26280" y="2880360"/>
            <a:ext cx="3429000" cy="2148840"/>
          </a:xfrm>
          <a:prstGeom prst="roundRect">
            <a:avLst>
              <a:gd name="adj" fmla="val 4681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00600" y="3154680"/>
            <a:ext cx="640080" cy="640080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4965192" y="331927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92240" y="30815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7C6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35%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4800600" y="3931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800600" y="43434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Matchmaking, recommended leads, marketplace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275320" y="2880360"/>
            <a:ext cx="3429000" cy="2148840"/>
          </a:xfrm>
          <a:prstGeom prst="roundRect">
            <a:avLst>
              <a:gd name="adj" fmla="val 4681"/>
            </a:avLst>
          </a:prstGeom>
          <a:solidFill>
            <a:srgbClr val="16161F"/>
          </a:solidFill>
          <a:ln w="12700">
            <a:solidFill>
              <a:srgbClr val="222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549640" y="3154680"/>
            <a:ext cx="640080" cy="640080"/>
          </a:xfrm>
          <a:prstGeom prst="ellipse">
            <a:avLst/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8714232" y="331927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241280" y="30815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25%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8549640" y="3931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549640" y="43434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Engineering, success &amp; operations hires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777240" y="534924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7C6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1051560" y="5349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Raising  </a:t>
            </a: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$[X]M</a:t>
            </a: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seed / pre-A</a:t>
            </a:r>
            <a:endParaRPr lang="en-US" sz="14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>
            <a:duotone>
              <a:srgbClr val="7C6CF5"/>
              <a:srgbClr val="7C6CF5"/>
            </a:duotone>
          </a:blip>
          <a:stretch>
            <a:fillRect/>
          </a:stretch>
        </p:blipFill>
        <p:spPr>
          <a:xfrm>
            <a:off x="6675120" y="5532120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8660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hello@expouse.com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086600" y="5742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Let's build the future of live events together.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401155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 [1785353585273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602C9FD-1564-4891-8698-787BB330306F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85ec03ec-101b-4d29-8633-7dafb2a443e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1797</Words>
  <Application>Microsoft Office PowerPoint</Application>
  <PresentationFormat>Widescreen</PresentationFormat>
  <Paragraphs>270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Montserrat</vt:lpstr>
      <vt:lpstr>Office Theme [1785353585273]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Expouse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Expouse — Investor Pitch</dc:title>
  <dc:subject>PptxGenJS Presentation</dc:subject>
  <dc:creator>Expouse</dc:creator>
  <cp:lastModifiedBy>Zillur Rahman</cp:lastModifiedBy>
  <cp:revision>6</cp:revision>
  <dcterms:created xsi:type="dcterms:W3CDTF">2026-07-29T08:44:55Z</dcterms:created>
  <dcterms:modified xsi:type="dcterms:W3CDTF">2026-07-30T17:19:54Z</dcterms:modified>
</cp:coreProperties>
</file>